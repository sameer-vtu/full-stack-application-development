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71" r:id="rId6"/>
    <p:sldId id="261" r:id="rId7"/>
    <p:sldId id="262" r:id="rId8"/>
    <p:sldId id="263" r:id="rId9"/>
    <p:sldId id="264" r:id="rId10"/>
    <p:sldId id="269" r:id="rId11"/>
    <p:sldId id="266" r:id="rId12"/>
    <p:sldId id="268" r:id="rId13"/>
    <p:sldId id="272"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A1B6DF-F62C-46DF-8E14-096FCE88F1CB}" v="48" dt="2026-04-19T12:49:32.1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varScale="1">
        <p:scale>
          <a:sx n="50" d="100"/>
          <a:sy n="50" d="100"/>
        </p:scale>
        <p:origin x="970"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20-04-2026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89438" y="6057900"/>
            <a:ext cx="15784162" cy="707886"/>
          </a:xfrm>
          <a:prstGeom prst="rect">
            <a:avLst/>
          </a:prstGeom>
          <a:noFill/>
        </p:spPr>
        <p:txBody>
          <a:bodyPr wrap="square" rtlCol="0">
            <a:spAutoFit/>
          </a:bodyPr>
          <a:lstStyle/>
          <a:p>
            <a:pPr algn="ctr"/>
            <a:r>
              <a:rPr lang="en-US" sz="4000" b="1" dirty="0">
                <a:solidFill>
                  <a:srgbClr val="0033CC"/>
                </a:solidFill>
                <a:latin typeface="Times New Roman" panose="02020603050405020304" pitchFamily="18" charset="0"/>
                <a:cs typeface="Times New Roman" panose="02020603050405020304" pitchFamily="18" charset="0"/>
              </a:rPr>
              <a:t>Smart Campus Event Management System</a:t>
            </a:r>
            <a:endParaRPr lang="en-IN" sz="40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SAMEER TONDUR – VTU25541 – 23UECS0503.</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61665"/>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9 – </a:t>
            </a:r>
            <a:r>
              <a:rPr lang="en-IN" sz="2400" b="1" dirty="0"/>
              <a:t>Industry, Innovation and Infrastructure</a:t>
            </a:r>
            <a:endParaRPr lang="en-IN" sz="24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057400" y="2095499"/>
            <a:ext cx="14728960" cy="11295400"/>
          </a:xfrm>
          <a:prstGeom prst="rect">
            <a:avLst/>
          </a:prstGeom>
          <a:noFill/>
        </p:spPr>
        <p:txBody>
          <a:bodyPr wrap="square" rtlCol="0">
            <a:spAutoFit/>
          </a:bodyPr>
          <a:lstStyle/>
          <a:p>
            <a:r>
              <a:rPr lang="en-US" sz="2800" b="1" dirty="0">
                <a:solidFill>
                  <a:srgbClr val="0033CC"/>
                </a:solidFill>
              </a:rPr>
              <a:t>Background of the problem:</a:t>
            </a:r>
          </a:p>
          <a:p>
            <a:r>
              <a:rPr lang="en-US" sz="2800" dirty="0"/>
              <a:t>Many colleges and universities still manage events manually or through scattered systems like notices, WhatsApp groups, or spreadsheets. This leads to issues such as miscommunication, missed registrations, lack of centralized data, and difficulty in tracking participants or event details.</a:t>
            </a:r>
          </a:p>
          <a:p>
            <a:r>
              <a:rPr lang="en-US" sz="2800" b="1" dirty="0">
                <a:solidFill>
                  <a:srgbClr val="0033CC"/>
                </a:solidFill>
              </a:rPr>
              <a:t>Why this project is important:</a:t>
            </a:r>
          </a:p>
          <a:p>
            <a:r>
              <a:rPr lang="en-US" sz="2800" dirty="0"/>
              <a:t>It helps automate event creation, registration, notifications, and participant tracking using modern web technologies and database systems. It improves communication and reduces manual workload for organizers.</a:t>
            </a:r>
            <a:endParaRPr lang="en-US" sz="2800" b="1" dirty="0"/>
          </a:p>
          <a:p>
            <a:r>
              <a:rPr lang="en-US" sz="2800" b="1" dirty="0">
                <a:solidFill>
                  <a:srgbClr val="0033CC"/>
                </a:solidFill>
              </a:rPr>
              <a:t>Real-world relevance:</a:t>
            </a:r>
          </a:p>
          <a:p>
            <a:r>
              <a:rPr lang="en-US" sz="2800" dirty="0"/>
              <a:t>This system is widely applicable in educational institutions, corporate organizations, and communities where multiple events are conducted regularly. Similar systems are used in universities, tech fests, workshops, seminars, and conference management platforms.</a:t>
            </a:r>
          </a:p>
          <a:p>
            <a:r>
              <a:rPr lang="en-US" sz="2800" b="1" dirty="0">
                <a:solidFill>
                  <a:srgbClr val="0033CC"/>
                </a:solidFill>
              </a:rPr>
              <a:t>Brief overview of the system:</a:t>
            </a:r>
          </a:p>
          <a:p>
            <a:r>
              <a:rPr lang="en-US" sz="2800" dirty="0"/>
              <a:t>A responsive web-based application that allows users (students and organizers) to view, register, and manage campus events.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1233845"/>
          </a:xfrm>
          <a:prstGeom prst="rect">
            <a:avLst/>
          </a:prstGeom>
          <a:noFill/>
        </p:spPr>
        <p:txBody>
          <a:bodyPr wrap="square" rtlCol="0">
            <a:spAutoFit/>
          </a:bodyPr>
          <a:lstStyle/>
          <a:p>
            <a:endParaRPr lang="en-US" sz="2800" dirty="0"/>
          </a:p>
          <a:p>
            <a:pPr algn="just"/>
            <a:endParaRPr lang="en-US" sz="3600" dirty="0"/>
          </a:p>
          <a:p>
            <a:pPr algn="just"/>
            <a:r>
              <a:rPr lang="en-US" sz="3600" dirty="0"/>
              <a:t>In many educational institutions, campus events such as workshops, seminars, cultural programs, and technical fests are managed using manual methods or disconnected digital tools. This often leads to problems like inefficient communication, difficulty in event registration, data mismanagement, lack of real-time updates, and poor coordination between organizers and participants.</a:t>
            </a:r>
          </a:p>
          <a:p>
            <a:pPr algn="just"/>
            <a:r>
              <a:rPr lang="en-US" sz="3600" dirty="0"/>
              <a:t>There is a need for a centralized, user-friendly system that can streamline the process of event creation, registration, and management. The system should allow organizers to efficiently manage event details and participants, while enabling students to easily browse events, register, and receive timely updates.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571500" y="449270"/>
            <a:ext cx="17907000" cy="830997"/>
          </a:xfrm>
          <a:prstGeom prst="rect">
            <a:avLst/>
          </a:prstGeom>
          <a:noFill/>
        </p:spPr>
        <p:txBody>
          <a:bodyPr wrap="square" rtlCol="0">
            <a:spAutoFit/>
          </a:bodyPr>
          <a:lstStyle/>
          <a:p>
            <a:pPr algn="ctr"/>
            <a:r>
              <a:rPr lang="en-IN" sz="4800" dirty="0">
                <a:solidFill>
                  <a:srgbClr val="0033CC"/>
                </a:solidFill>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2" name="Rectangle 6">
            <a:extLst>
              <a:ext uri="{FF2B5EF4-FFF2-40B4-BE49-F238E27FC236}">
                <a16:creationId xmlns:a16="http://schemas.microsoft.com/office/drawing/2014/main" id="{E106C582-6BBC-0DC2-3A88-A32FC68580DE}"/>
              </a:ext>
            </a:extLst>
          </p:cNvPr>
          <p:cNvSpPr>
            <a:spLocks noChangeArrowheads="1"/>
          </p:cNvSpPr>
          <p:nvPr/>
        </p:nvSpPr>
        <p:spPr bwMode="auto">
          <a:xfrm>
            <a:off x="-1752600" y="4292914"/>
            <a:ext cx="1568007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29B0EF46-4736-2913-4348-E3AC7889E1F7}"/>
              </a:ext>
            </a:extLst>
          </p:cNvPr>
          <p:cNvSpPr>
            <a:spLocks noChangeArrowheads="1"/>
          </p:cNvSpPr>
          <p:nvPr/>
        </p:nvSpPr>
        <p:spPr bwMode="auto">
          <a:xfrm rot="10800000" flipV="1">
            <a:off x="1701819" y="1624504"/>
            <a:ext cx="16586181" cy="729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Event management is often handled using manual or scattered systems.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Users face difficulty in finding and registering for events.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There is no centralized platform to manage event details efficiently.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Organizers struggle to track participants and update event information. </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Existing systems do not provide smooth user experience.</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There is a need for a system that ensures efficient event handling. </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CF44C-3A6A-61F9-DEBF-B1DBF52B9055}"/>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30A2D9EF-3C57-82E0-04B1-90D1F536D88E}"/>
              </a:ext>
            </a:extLst>
          </p:cNvPr>
          <p:cNvGrpSpPr/>
          <p:nvPr/>
        </p:nvGrpSpPr>
        <p:grpSpPr>
          <a:xfrm>
            <a:off x="709357" y="3315742"/>
            <a:ext cx="992463" cy="992463"/>
            <a:chOff x="0" y="0"/>
            <a:chExt cx="812800" cy="812800"/>
          </a:xfrm>
        </p:grpSpPr>
        <p:sp>
          <p:nvSpPr>
            <p:cNvPr id="8" name="Freeform 8">
              <a:extLst>
                <a:ext uri="{FF2B5EF4-FFF2-40B4-BE49-F238E27FC236}">
                  <a16:creationId xmlns:a16="http://schemas.microsoft.com/office/drawing/2014/main" id="{B417789A-82A8-F7A7-F75D-4B2CD5F2899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9ECF7D2-6B7D-BD82-7D57-941FC06D2AD6}"/>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a:extLst>
              <a:ext uri="{FF2B5EF4-FFF2-40B4-BE49-F238E27FC236}">
                <a16:creationId xmlns:a16="http://schemas.microsoft.com/office/drawing/2014/main" id="{2B6D688C-3296-D7A3-90B4-28B437404732}"/>
              </a:ext>
            </a:extLst>
          </p:cNvPr>
          <p:cNvGrpSpPr/>
          <p:nvPr/>
        </p:nvGrpSpPr>
        <p:grpSpPr>
          <a:xfrm>
            <a:off x="951509" y="4428296"/>
            <a:ext cx="508158" cy="543805"/>
            <a:chOff x="0" y="0"/>
            <a:chExt cx="812800" cy="869819"/>
          </a:xfrm>
        </p:grpSpPr>
        <p:sp>
          <p:nvSpPr>
            <p:cNvPr id="11" name="Freeform 11">
              <a:extLst>
                <a:ext uri="{FF2B5EF4-FFF2-40B4-BE49-F238E27FC236}">
                  <a16:creationId xmlns:a16="http://schemas.microsoft.com/office/drawing/2014/main" id="{D1D724A0-304F-01EA-1DF6-78194FEE9A7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9ABEF89B-7A7D-29BB-5B68-59D013056AF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a:extLst>
              <a:ext uri="{FF2B5EF4-FFF2-40B4-BE49-F238E27FC236}">
                <a16:creationId xmlns:a16="http://schemas.microsoft.com/office/drawing/2014/main" id="{A95B6EC6-21C4-EE58-C31F-690F79788EBD}"/>
              </a:ext>
            </a:extLst>
          </p:cNvPr>
          <p:cNvGrpSpPr/>
          <p:nvPr/>
        </p:nvGrpSpPr>
        <p:grpSpPr>
          <a:xfrm>
            <a:off x="951509" y="1982349"/>
            <a:ext cx="508158" cy="543805"/>
            <a:chOff x="0" y="0"/>
            <a:chExt cx="812800" cy="869819"/>
          </a:xfrm>
        </p:grpSpPr>
        <p:sp>
          <p:nvSpPr>
            <p:cNvPr id="14" name="Freeform 14">
              <a:extLst>
                <a:ext uri="{FF2B5EF4-FFF2-40B4-BE49-F238E27FC236}">
                  <a16:creationId xmlns:a16="http://schemas.microsoft.com/office/drawing/2014/main" id="{DB5B2A85-D44E-1001-B4D9-34432D1F85D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9017DAB1-A30D-5C7A-8C04-98647CFFF06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F85BB16-64DA-2E26-3BA5-2AB95ACAB131}"/>
              </a:ext>
            </a:extLst>
          </p:cNvPr>
          <p:cNvGrpSpPr/>
          <p:nvPr/>
        </p:nvGrpSpPr>
        <p:grpSpPr>
          <a:xfrm>
            <a:off x="951509" y="5094059"/>
            <a:ext cx="508158" cy="543805"/>
            <a:chOff x="0" y="0"/>
            <a:chExt cx="812800" cy="869819"/>
          </a:xfrm>
        </p:grpSpPr>
        <p:sp>
          <p:nvSpPr>
            <p:cNvPr id="17" name="Freeform 17">
              <a:extLst>
                <a:ext uri="{FF2B5EF4-FFF2-40B4-BE49-F238E27FC236}">
                  <a16:creationId xmlns:a16="http://schemas.microsoft.com/office/drawing/2014/main" id="{6A0854A9-00A1-E778-7DB6-551B636304D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2E313C11-FA98-F825-B114-0082E161100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a:extLst>
              <a:ext uri="{FF2B5EF4-FFF2-40B4-BE49-F238E27FC236}">
                <a16:creationId xmlns:a16="http://schemas.microsoft.com/office/drawing/2014/main" id="{E01E7D99-E13A-20BB-41F3-18AE78F02CC6}"/>
              </a:ext>
            </a:extLst>
          </p:cNvPr>
          <p:cNvGrpSpPr/>
          <p:nvPr/>
        </p:nvGrpSpPr>
        <p:grpSpPr>
          <a:xfrm>
            <a:off x="951509" y="2648112"/>
            <a:ext cx="508158" cy="543805"/>
            <a:chOff x="0" y="0"/>
            <a:chExt cx="812800" cy="869819"/>
          </a:xfrm>
        </p:grpSpPr>
        <p:sp>
          <p:nvSpPr>
            <p:cNvPr id="20" name="Freeform 20">
              <a:extLst>
                <a:ext uri="{FF2B5EF4-FFF2-40B4-BE49-F238E27FC236}">
                  <a16:creationId xmlns:a16="http://schemas.microsoft.com/office/drawing/2014/main" id="{490378CE-0ABE-56B7-E9FC-61B39C96CC6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CFEE168-7D2B-577C-74F7-FF2A04F8E14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F6109A25-67E2-D257-7147-FD3538CB2589}"/>
              </a:ext>
            </a:extLst>
          </p:cNvPr>
          <p:cNvGrpSpPr/>
          <p:nvPr/>
        </p:nvGrpSpPr>
        <p:grpSpPr>
          <a:xfrm>
            <a:off x="951509" y="6425585"/>
            <a:ext cx="508158" cy="543805"/>
            <a:chOff x="0" y="0"/>
            <a:chExt cx="812800" cy="869819"/>
          </a:xfrm>
        </p:grpSpPr>
        <p:sp>
          <p:nvSpPr>
            <p:cNvPr id="23" name="Freeform 23">
              <a:extLst>
                <a:ext uri="{FF2B5EF4-FFF2-40B4-BE49-F238E27FC236}">
                  <a16:creationId xmlns:a16="http://schemas.microsoft.com/office/drawing/2014/main" id="{C7843FD7-CA1D-A762-4CB1-107005E4038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3C76395-FCA2-92E0-3849-5053101467B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a:extLst>
              <a:ext uri="{FF2B5EF4-FFF2-40B4-BE49-F238E27FC236}">
                <a16:creationId xmlns:a16="http://schemas.microsoft.com/office/drawing/2014/main" id="{F543968C-9FA4-2726-35C6-F58CC26C0D18}"/>
              </a:ext>
            </a:extLst>
          </p:cNvPr>
          <p:cNvGrpSpPr/>
          <p:nvPr/>
        </p:nvGrpSpPr>
        <p:grpSpPr>
          <a:xfrm>
            <a:off x="951509" y="5759822"/>
            <a:ext cx="508158" cy="543805"/>
            <a:chOff x="0" y="0"/>
            <a:chExt cx="812800" cy="869819"/>
          </a:xfrm>
        </p:grpSpPr>
        <p:sp>
          <p:nvSpPr>
            <p:cNvPr id="26" name="Freeform 26">
              <a:extLst>
                <a:ext uri="{FF2B5EF4-FFF2-40B4-BE49-F238E27FC236}">
                  <a16:creationId xmlns:a16="http://schemas.microsoft.com/office/drawing/2014/main" id="{B2979C76-7095-8973-B8FB-9E924C0BC8E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4E9021A3-1A2A-2451-E8E9-42755A19911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a:extLst>
              <a:ext uri="{FF2B5EF4-FFF2-40B4-BE49-F238E27FC236}">
                <a16:creationId xmlns:a16="http://schemas.microsoft.com/office/drawing/2014/main" id="{8A0DE3E0-B22D-7FFE-9F45-AC7E3DCA5478}"/>
              </a:ext>
            </a:extLst>
          </p:cNvPr>
          <p:cNvGrpSpPr/>
          <p:nvPr/>
        </p:nvGrpSpPr>
        <p:grpSpPr>
          <a:xfrm>
            <a:off x="951509" y="7093216"/>
            <a:ext cx="508158" cy="543805"/>
            <a:chOff x="0" y="0"/>
            <a:chExt cx="812800" cy="869819"/>
          </a:xfrm>
        </p:grpSpPr>
        <p:sp>
          <p:nvSpPr>
            <p:cNvPr id="42" name="Freeform 42">
              <a:extLst>
                <a:ext uri="{FF2B5EF4-FFF2-40B4-BE49-F238E27FC236}">
                  <a16:creationId xmlns:a16="http://schemas.microsoft.com/office/drawing/2014/main" id="{6C38017D-432E-3688-A541-06447F86198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a:extLst>
                <a:ext uri="{FF2B5EF4-FFF2-40B4-BE49-F238E27FC236}">
                  <a16:creationId xmlns:a16="http://schemas.microsoft.com/office/drawing/2014/main" id="{05855C47-B8A4-10B8-A714-D679E659ABB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a:extLst>
              <a:ext uri="{FF2B5EF4-FFF2-40B4-BE49-F238E27FC236}">
                <a16:creationId xmlns:a16="http://schemas.microsoft.com/office/drawing/2014/main" id="{ACBC5A96-8002-8F93-F81E-BC3B7AC7EA90}"/>
              </a:ext>
            </a:extLst>
          </p:cNvPr>
          <p:cNvGrpSpPr/>
          <p:nvPr/>
        </p:nvGrpSpPr>
        <p:grpSpPr>
          <a:xfrm>
            <a:off x="951509" y="7760846"/>
            <a:ext cx="508158" cy="543805"/>
            <a:chOff x="0" y="0"/>
            <a:chExt cx="812800" cy="869819"/>
          </a:xfrm>
        </p:grpSpPr>
        <p:sp>
          <p:nvSpPr>
            <p:cNvPr id="45" name="Freeform 45">
              <a:extLst>
                <a:ext uri="{FF2B5EF4-FFF2-40B4-BE49-F238E27FC236}">
                  <a16:creationId xmlns:a16="http://schemas.microsoft.com/office/drawing/2014/main" id="{7067D554-C906-2C11-8FAF-0B02C625CA6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a:extLst>
                <a:ext uri="{FF2B5EF4-FFF2-40B4-BE49-F238E27FC236}">
                  <a16:creationId xmlns:a16="http://schemas.microsoft.com/office/drawing/2014/main" id="{22025C1F-E9DF-6DAB-349F-056178DC167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241003D7-40EB-1B43-8055-662AFD917F3F}"/>
              </a:ext>
            </a:extLst>
          </p:cNvPr>
          <p:cNvSpPr txBox="1"/>
          <p:nvPr/>
        </p:nvSpPr>
        <p:spPr>
          <a:xfrm>
            <a:off x="76200" y="436947"/>
            <a:ext cx="17907000" cy="830997"/>
          </a:xfrm>
          <a:prstGeom prst="rect">
            <a:avLst/>
          </a:prstGeom>
          <a:noFill/>
        </p:spPr>
        <p:txBody>
          <a:bodyPr wrap="square" rtlCol="0">
            <a:spAutoFit/>
          </a:bodyPr>
          <a:lstStyle/>
          <a:p>
            <a:pPr algn="ctr"/>
            <a:r>
              <a:rPr lang="en-IN" sz="4800" dirty="0">
                <a:solidFill>
                  <a:srgbClr val="0033CC"/>
                </a:solidFill>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4AC1CEB6-8DDD-9183-7B00-78A0EA658288}"/>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3" name="Rectangle 8">
            <a:extLst>
              <a:ext uri="{FF2B5EF4-FFF2-40B4-BE49-F238E27FC236}">
                <a16:creationId xmlns:a16="http://schemas.microsoft.com/office/drawing/2014/main" id="{51A39070-8B69-3EDC-93BB-1BF2EBFAC059}"/>
              </a:ext>
            </a:extLst>
          </p:cNvPr>
          <p:cNvSpPr>
            <a:spLocks noChangeArrowheads="1"/>
          </p:cNvSpPr>
          <p:nvPr/>
        </p:nvSpPr>
        <p:spPr bwMode="auto">
          <a:xfrm rot="10800000" flipV="1">
            <a:off x="1981200" y="1905671"/>
            <a:ext cx="163068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design and develop a centralized system for managing events efficiently.</a:t>
            </a:r>
          </a:p>
          <a:p>
            <a:pPr marR="0" lvl="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provide a user-friendly interface for browsing and registering for events</a:t>
            </a:r>
            <a:r>
              <a:rPr lang="en-US" altLang="en-US" sz="3600" dirty="0">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enable organizers to create, update, and manage event details easily. </a:t>
            </a:r>
          </a:p>
          <a:p>
            <a:pPr marR="0" lvl="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store and manage event and participant data using H2 Console for quick and lightweight database operations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571500" lvl="0" indent="-571500" eaLnBrk="0" fontAlgn="base" hangingPunct="0">
              <a:spcBef>
                <a:spcPct val="0"/>
              </a:spcBef>
              <a:spcAft>
                <a:spcPct val="0"/>
              </a:spcAft>
              <a:buFont typeface="Arial" panose="020B0604020202020204" pitchFamily="34" charset="0"/>
              <a:buChar char="•"/>
            </a:pPr>
            <a:r>
              <a:rPr lang="en-US" sz="4000" dirty="0"/>
              <a:t>To reduce manual work and improve overall system efficiency.</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88902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3" name="Picture 32" descr="The image illustrates a diagram with four sequential steps: browsing events, registering, storing data, and managing events, depicted through a flowchart.&#10;&#10;AI-generated content may be incorrect.">
            <a:extLst>
              <a:ext uri="{FF2B5EF4-FFF2-40B4-BE49-F238E27FC236}">
                <a16:creationId xmlns:a16="http://schemas.microsoft.com/office/drawing/2014/main" id="{BC1C15C0-4625-C083-73E2-E55DD4B5B95A}"/>
              </a:ext>
            </a:extLst>
          </p:cNvPr>
          <p:cNvPicPr>
            <a:picLocks noChangeAspect="1"/>
          </p:cNvPicPr>
          <p:nvPr/>
        </p:nvPicPr>
        <p:blipFill>
          <a:blip r:embed="rId3"/>
          <a:stretch>
            <a:fillRect/>
          </a:stretch>
        </p:blipFill>
        <p:spPr>
          <a:xfrm>
            <a:off x="1828799" y="1714500"/>
            <a:ext cx="15082325" cy="7239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1775692" y="1638300"/>
            <a:ext cx="15516434" cy="4832092"/>
          </a:xfrm>
          <a:prstGeom prst="rect">
            <a:avLst/>
          </a:prstGeom>
          <a:noFill/>
        </p:spPr>
        <p:txBody>
          <a:bodyPr wrap="square" rtlCol="0">
            <a:spAutoFit/>
          </a:bodyPr>
          <a:lstStyle/>
          <a:p>
            <a:r>
              <a:rPr lang="en-US" sz="2800" dirty="0">
                <a:solidFill>
                  <a:srgbClr val="0033CC"/>
                </a:solidFill>
              </a:rPr>
              <a:t>Dataflow diagram: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The diagram illustrates a sequence for an event management system where users browse events, register, attend, and receive confirmation, with data being stored in a database.&#10;&#10;AI-generated content may be incorrect.">
            <a:extLst>
              <a:ext uri="{FF2B5EF4-FFF2-40B4-BE49-F238E27FC236}">
                <a16:creationId xmlns:a16="http://schemas.microsoft.com/office/drawing/2014/main" id="{997E3315-7343-605D-5AC5-532BBE09D610}"/>
              </a:ext>
            </a:extLst>
          </p:cNvPr>
          <p:cNvPicPr>
            <a:picLocks noChangeAspect="1"/>
          </p:cNvPicPr>
          <p:nvPr/>
        </p:nvPicPr>
        <p:blipFill>
          <a:blip r:embed="rId3"/>
          <a:stretch>
            <a:fillRect/>
          </a:stretch>
        </p:blipFill>
        <p:spPr>
          <a:xfrm>
            <a:off x="1828800" y="2095500"/>
            <a:ext cx="14630400" cy="79247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endParaRPr lang="en-US" sz="2800" dirty="0"/>
          </a:p>
          <a:p>
            <a:r>
              <a:rPr lang="en-US" sz="2800" dirty="0">
                <a:solidFill>
                  <a:srgbClr val="0033CC"/>
                </a:solidFill>
              </a:rPr>
              <a:t>Backend:</a:t>
            </a:r>
          </a:p>
          <a:p>
            <a:endParaRPr lang="en-US" sz="2800" dirty="0">
              <a:solidFill>
                <a:srgbClr val="0033CC"/>
              </a:solidFill>
            </a:endParaRPr>
          </a:p>
          <a:p>
            <a:r>
              <a:rPr lang="en-US" sz="2800" dirty="0"/>
              <a:t>1.Java Spring Boot</a:t>
            </a:r>
          </a:p>
          <a:p>
            <a:r>
              <a:rPr lang="en-US" sz="2800" dirty="0"/>
              <a:t>2.H2 Console</a:t>
            </a:r>
          </a:p>
          <a:p>
            <a:endParaRPr lang="en-US" sz="2800" dirty="0"/>
          </a:p>
          <a:p>
            <a:r>
              <a:rPr lang="en-US" sz="2800" dirty="0">
                <a:solidFill>
                  <a:srgbClr val="0033CC"/>
                </a:solidFill>
              </a:rPr>
              <a:t>Tools:</a:t>
            </a:r>
          </a:p>
          <a:p>
            <a:endParaRPr lang="en-US" sz="2800" dirty="0">
              <a:solidFill>
                <a:srgbClr val="0033CC"/>
              </a:solidFill>
            </a:endParaRPr>
          </a:p>
          <a:p>
            <a:r>
              <a:rPr lang="en-US" sz="2800" dirty="0"/>
              <a:t>1.VS-Code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176975" y="1334586"/>
            <a:ext cx="15082325" cy="10433625"/>
          </a:xfrm>
          <a:prstGeom prst="rect">
            <a:avLst/>
          </a:prstGeom>
          <a:noFill/>
        </p:spPr>
        <p:txBody>
          <a:bodyPr wrap="square" rtlCol="0">
            <a:spAutoFit/>
          </a:bodyPr>
          <a:lstStyle/>
          <a:p>
            <a:endParaRPr lang="en-IN" sz="2800" b="1" dirty="0"/>
          </a:p>
          <a:p>
            <a:r>
              <a:rPr lang="en-US" sz="2800" b="1" dirty="0"/>
              <a:t>Module 1: Event Management:</a:t>
            </a:r>
          </a:p>
          <a:p>
            <a:pPr marL="457200" indent="-457200">
              <a:buFont typeface="Arial" panose="020B0604020202020204" pitchFamily="34" charset="0"/>
              <a:buChar char="•"/>
            </a:pPr>
            <a:r>
              <a:rPr lang="en-US" sz="2800" dirty="0"/>
              <a:t>Display Events Dynamically.</a:t>
            </a:r>
          </a:p>
          <a:p>
            <a:pPr marL="457200" indent="-457200">
              <a:buFont typeface="Arial" panose="020B0604020202020204" pitchFamily="34" charset="0"/>
              <a:buChar char="•"/>
            </a:pPr>
            <a:r>
              <a:rPr lang="en-US" sz="2800" dirty="0"/>
              <a:t>Organize Events By Category.</a:t>
            </a:r>
          </a:p>
          <a:p>
            <a:pPr marL="457200" indent="-457200">
              <a:buFont typeface="Arial" panose="020B0604020202020204" pitchFamily="34" charset="0"/>
              <a:buChar char="•"/>
            </a:pPr>
            <a:r>
              <a:rPr lang="en-US" sz="2800" dirty="0"/>
              <a:t>View Event Details.</a:t>
            </a:r>
          </a:p>
          <a:p>
            <a:endParaRPr lang="en-IN" sz="2800" dirty="0"/>
          </a:p>
          <a:p>
            <a:r>
              <a:rPr lang="en-US" sz="2800" b="1" dirty="0"/>
              <a:t>Module 2: Registration Management:</a:t>
            </a:r>
          </a:p>
          <a:p>
            <a:pPr marL="457200" indent="-457200">
              <a:buFont typeface="Arial" panose="020B0604020202020204" pitchFamily="34" charset="0"/>
              <a:buChar char="•"/>
            </a:pPr>
            <a:r>
              <a:rPr lang="en-US" sz="2800" dirty="0"/>
              <a:t>Register For Events.</a:t>
            </a:r>
          </a:p>
          <a:p>
            <a:pPr marL="457200" indent="-457200">
              <a:buFont typeface="Arial" panose="020B0604020202020204" pitchFamily="34" charset="0"/>
              <a:buChar char="•"/>
            </a:pPr>
            <a:r>
              <a:rPr lang="en-US" sz="2800" dirty="0"/>
              <a:t>Cancel Registration.</a:t>
            </a:r>
          </a:p>
          <a:p>
            <a:pPr marL="457200" indent="-457200">
              <a:buFont typeface="Arial" panose="020B0604020202020204" pitchFamily="34" charset="0"/>
              <a:buChar char="•"/>
            </a:pPr>
            <a:r>
              <a:rPr lang="en-US" sz="2800" dirty="0"/>
              <a:t>View Registered Events.</a:t>
            </a:r>
          </a:p>
          <a:p>
            <a:endParaRPr lang="en-IN" sz="2800" dirty="0"/>
          </a:p>
          <a:p>
            <a:r>
              <a:rPr lang="en-IN" sz="2800" b="1" dirty="0"/>
              <a:t>Module 3: Data Persistence Module:</a:t>
            </a:r>
          </a:p>
          <a:p>
            <a:pPr marL="457200" indent="-457200">
              <a:buFont typeface="Arial" panose="020B0604020202020204" pitchFamily="34" charset="0"/>
              <a:buChar char="•"/>
            </a:pPr>
            <a:r>
              <a:rPr lang="en-IN" sz="2800" dirty="0"/>
              <a:t>Stores Event &amp; User Data in H2 Console.</a:t>
            </a:r>
          </a:p>
          <a:p>
            <a:pPr marL="457200" indent="-457200">
              <a:buFont typeface="Arial" panose="020B0604020202020204" pitchFamily="34" charset="0"/>
              <a:buChar char="•"/>
            </a:pPr>
            <a:r>
              <a:rPr lang="en-IN" sz="2800" dirty="0"/>
              <a:t>Retrieves Data After Refresh.</a:t>
            </a:r>
          </a:p>
          <a:p>
            <a:endParaRPr lang="en-IN" sz="2800" dirty="0"/>
          </a:p>
          <a:p>
            <a:r>
              <a:rPr lang="en-US" sz="2800" b="1" dirty="0"/>
              <a:t>Module 4: Notification Module:</a:t>
            </a:r>
          </a:p>
          <a:p>
            <a:pPr marL="457200" indent="-457200">
              <a:buFont typeface="Arial" panose="020B0604020202020204" pitchFamily="34" charset="0"/>
              <a:buChar char="•"/>
            </a:pPr>
            <a:r>
              <a:rPr lang="en-US" sz="2800" dirty="0"/>
              <a:t>Send Confirmation Email After Registration.</a:t>
            </a:r>
          </a:p>
          <a:p>
            <a:pPr marL="457200" indent="-457200">
              <a:buFont typeface="Arial" panose="020B0604020202020204" pitchFamily="34" charset="0"/>
              <a:buChar char="•"/>
            </a:pPr>
            <a:r>
              <a:rPr lang="en-US" sz="2800" dirty="0"/>
              <a:t>Notify Users About Event Updates.</a:t>
            </a:r>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343149" y="1663366"/>
            <a:ext cx="15082325" cy="6124754"/>
          </a:xfrm>
          <a:prstGeom prst="rect">
            <a:avLst/>
          </a:prstGeom>
          <a:noFill/>
        </p:spPr>
        <p:txBody>
          <a:bodyPr wrap="square" rtlCol="0">
            <a:spAutoFit/>
          </a:bodyPr>
          <a:lstStyle/>
          <a:p>
            <a:r>
              <a:rPr lang="en-US" sz="2800" dirty="0">
                <a:solidFill>
                  <a:srgbClr val="0033CC"/>
                </a:solidFill>
              </a:rPr>
              <a:t>Login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5296059E-0384-7080-AFC0-F88A4B906D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3089" y="2803762"/>
            <a:ext cx="12182475" cy="6365003"/>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502991" y="1293745"/>
            <a:ext cx="14826318" cy="6124754"/>
          </a:xfrm>
          <a:prstGeom prst="rect">
            <a:avLst/>
          </a:prstGeom>
          <a:noFill/>
        </p:spPr>
        <p:txBody>
          <a:bodyPr wrap="square" rtlCol="0">
            <a:spAutoFit/>
          </a:bodyPr>
          <a:lstStyle/>
          <a:p>
            <a:r>
              <a:rPr lang="en-US" sz="2800" dirty="0">
                <a:solidFill>
                  <a:srgbClr val="0033CC"/>
                </a:solidFill>
              </a:rPr>
              <a:t>Home Page:</a:t>
            </a: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73EC2EC6-4004-7699-3974-D46D5C88D3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6774" y="2757653"/>
            <a:ext cx="12887325" cy="6209571"/>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95E4E96D-6527-A220-9A63-A016B61F37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0400" y="2927637"/>
            <a:ext cx="3857625" cy="5721063"/>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5AE7CC-2FF6-4A1E-7756-8D477303FE8E}"/>
              </a:ext>
            </a:extLst>
          </p:cNvPr>
          <p:cNvSpPr txBox="1"/>
          <p:nvPr/>
        </p:nvSpPr>
        <p:spPr>
          <a:xfrm>
            <a:off x="3810000" y="647700"/>
            <a:ext cx="9144000" cy="707886"/>
          </a:xfrm>
          <a:prstGeom prst="rect">
            <a:avLst/>
          </a:prstGeom>
          <a:noFill/>
        </p:spPr>
        <p:txBody>
          <a:bodyPr wrap="square">
            <a:spAutoFit/>
          </a:bodyPr>
          <a:lstStyle/>
          <a:p>
            <a:pPr algn="ctr"/>
            <a:r>
              <a:rPr lang="en-US" sz="4000" b="1" dirty="0">
                <a:solidFill>
                  <a:srgbClr val="0033CC"/>
                </a:solidFill>
                <a:latin typeface="Times New Roman" panose="02020603050405020304" pitchFamily="18" charset="0"/>
                <a:cs typeface="Times New Roman" panose="02020603050405020304" pitchFamily="18" charset="0"/>
              </a:rPr>
              <a:t>IMPLEMENTATION SCREENSHOTS</a:t>
            </a:r>
            <a:endParaRPr lang="en-IN" sz="4000" b="1" dirty="0">
              <a:solidFill>
                <a:srgbClr val="0033CC"/>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3EA2F75-5B08-70CC-9771-84C2610A7B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1757362"/>
            <a:ext cx="12944475" cy="6772275"/>
          </a:xfrm>
          <a:prstGeom prst="rect">
            <a:avLst/>
          </a:prstGeom>
        </p:spPr>
      </p:pic>
    </p:spTree>
    <p:extLst>
      <p:ext uri="{BB962C8B-B14F-4D97-AF65-F5344CB8AC3E}">
        <p14:creationId xmlns:p14="http://schemas.microsoft.com/office/powerpoint/2010/main" val="2059126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7417415"/>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pPr marL="457200" indent="-457200">
              <a:buFont typeface="Arial" panose="020B0604020202020204" pitchFamily="34" charset="0"/>
              <a:buChar char="•"/>
            </a:pPr>
            <a:r>
              <a:rPr lang="en-US" sz="2800" dirty="0"/>
              <a:t>Easy event registration process. </a:t>
            </a:r>
          </a:p>
          <a:p>
            <a:pPr marL="457200" indent="-457200">
              <a:buFont typeface="Arial" panose="020B0604020202020204" pitchFamily="34" charset="0"/>
              <a:buChar char="•"/>
            </a:pPr>
            <a:r>
              <a:rPr lang="en-US" sz="2800" dirty="0"/>
              <a:t>Data persistence using H2 Database. </a:t>
            </a:r>
          </a:p>
          <a:p>
            <a:pPr marL="457200" indent="-457200">
              <a:buFont typeface="Arial" panose="020B0604020202020204" pitchFamily="34" charset="0"/>
              <a:buChar char="•"/>
            </a:pPr>
            <a:r>
              <a:rPr lang="en-US" sz="2800" dirty="0"/>
              <a:t>Real-time updates for users. </a:t>
            </a:r>
          </a:p>
          <a:p>
            <a:pPr marL="457200" indent="-457200">
              <a:buFont typeface="Arial" panose="020B0604020202020204" pitchFamily="34" charset="0"/>
              <a:buChar char="•"/>
            </a:pPr>
            <a:r>
              <a:rPr lang="en-US" sz="2800" dirty="0"/>
              <a:t>Improves coordination and reduces manual work. </a:t>
            </a:r>
          </a:p>
          <a:p>
            <a:pPr marL="457200" indent="-457200">
              <a:buFont typeface="Arial" panose="020B0604020202020204" pitchFamily="34" charset="0"/>
              <a:buChar char="•"/>
            </a:pPr>
            <a:r>
              <a:rPr lang="en-US" sz="2800" dirty="0"/>
              <a:t>User-friendly and responsive interface.</a:t>
            </a:r>
          </a:p>
          <a:p>
            <a:pPr marL="457200" indent="-457200">
              <a:buFontTx/>
              <a:buChar char="-"/>
            </a:pPr>
            <a:endParaRPr lang="en-US" sz="2800" dirty="0"/>
          </a:p>
          <a:p>
            <a:r>
              <a:rPr lang="en-US" sz="2800" b="1" dirty="0">
                <a:solidFill>
                  <a:srgbClr val="0033CC"/>
                </a:solidFill>
              </a:rPr>
              <a:t>Limitations:</a:t>
            </a:r>
          </a:p>
          <a:p>
            <a:pPr marL="457200" indent="-457200">
              <a:buFont typeface="Arial" panose="020B0604020202020204" pitchFamily="34" charset="0"/>
              <a:buChar char="•"/>
            </a:pPr>
            <a:r>
              <a:rPr lang="en-US" sz="2800" dirty="0"/>
              <a:t>Limited scalability for large-scale usage.</a:t>
            </a:r>
          </a:p>
          <a:p>
            <a:pPr marL="457200" indent="-457200">
              <a:buFont typeface="Arial" panose="020B0604020202020204" pitchFamily="34" charset="0"/>
              <a:buChar char="•"/>
            </a:pPr>
            <a:r>
              <a:rPr lang="en-US" sz="2800" dirty="0"/>
              <a:t>Basic notification system email only.</a:t>
            </a:r>
          </a:p>
          <a:p>
            <a:pPr marL="457200" indent="-457200">
              <a:buFont typeface="Arial" panose="020B0604020202020204" pitchFamily="34" charset="0"/>
              <a:buChar char="•"/>
            </a:pPr>
            <a:r>
              <a:rPr lang="en-US" sz="2800" dirty="0"/>
              <a:t>Less support for advanced analytics features.</a:t>
            </a:r>
          </a:p>
          <a:p>
            <a:pPr marL="457200" indent="-457200">
              <a:buFont typeface="Arial" panose="020B0604020202020204" pitchFamily="34" charset="0"/>
              <a:buChar char="•"/>
            </a:pPr>
            <a:r>
              <a:rPr lang="en-US" sz="2800" dirty="0"/>
              <a:t>Data security depends on implementation.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809</TotalTime>
  <Words>809</Words>
  <Application>Microsoft Office PowerPoint</Application>
  <PresentationFormat>Custom</PresentationFormat>
  <Paragraphs>310</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Times New Roman</vt:lpstr>
      <vt:lpstr>Gotham Bold Italics</vt:lpstr>
      <vt:lpstr>Gotham</vt:lpstr>
      <vt:lpstr>Bookman Old Style</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sairam gurram</dc:creator>
  <cp:lastModifiedBy>tondursameer@gmail.com</cp:lastModifiedBy>
  <cp:revision>18</cp:revision>
  <dcterms:created xsi:type="dcterms:W3CDTF">2006-08-16T00:00:00Z</dcterms:created>
  <dcterms:modified xsi:type="dcterms:W3CDTF">2026-04-20T05:31:57Z</dcterms:modified>
  <dc:identifier>DAHCaYqJ9OU</dc:identifier>
</cp:coreProperties>
</file>